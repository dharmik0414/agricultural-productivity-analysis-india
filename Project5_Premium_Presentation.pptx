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5" r:id="rId11"/>
    <p:sldId id="266" r:id="rId12"/>
    <p:sldId id="271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73152" cy="3291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D4AF37"/>
                </a:solidFill>
                <a:latin typeface="Segoe UI"/>
              </a:rPr>
              <a:t>PROJECT 5  •  INDUSTRY-LEVEL DATA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0584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 dirty="0">
                <a:solidFill>
                  <a:srgbClr val="FFFFFF"/>
                </a:solidFill>
                <a:latin typeface="Georgia"/>
              </a:rPr>
              <a:t>Agricultural Productivity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&amp; Yield Analysis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 i="1" dirty="0">
                <a:solidFill>
                  <a:srgbClr val="F4F8F5"/>
                </a:solidFill>
                <a:latin typeface="Segoe UI"/>
              </a:rPr>
              <a:t>A Capstone Audit resolving reporting unit inconsistencies and regional yield disparities across 33 states, 646 districts, and 124 crops (1997–2015)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46320"/>
            <a:ext cx="10607040" cy="182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D4AF37"/>
                </a:solidFill>
                <a:latin typeface="Segoe UI"/>
              </a:rPr>
              <a:t>AUTHOR /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Trivedi Dharmik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074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D4AF37"/>
                </a:solidFill>
                <a:latin typeface="Segoe UI"/>
              </a:rPr>
              <a:t>COURSE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3035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Data Analytics &amp; Visualization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AGENDA  |  Executive Roadmap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383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F4F8F5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733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Georgia"/>
              </a:rPr>
              <a:t>The Business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Agricultural variance and objective parameters for national policy focus.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383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1645920"/>
            <a:ext cx="411480" cy="411480"/>
          </a:xfrm>
          <a:prstGeom prst="ellipse">
            <a:avLst/>
          </a:prstGeom>
          <a:solidFill>
            <a:srgbClr val="F4F8F5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70078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6733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Georgia"/>
              </a:rPr>
              <a:t>Data Integrity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Whitespace stripping, casing standardization, and outlier identification.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383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0" y="1645920"/>
            <a:ext cx="411480" cy="411480"/>
          </a:xfrm>
          <a:prstGeom prst="ellipse">
            <a:avLst/>
          </a:prstGeom>
          <a:solidFill>
            <a:srgbClr val="F4F8F5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70078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733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Georgia"/>
              </a:rPr>
              <a:t>Unit Inconsistency 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028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Resolving the mixed-unit data trap (nuts vs. bales vs. tonnes) using the Yield Index.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3383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F4F8F5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0782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0507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Georgia"/>
              </a:rPr>
              <a:t>SQL Query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SQLite execution covering joins, rankings, window functions, and pre-computed views.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84048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3840480"/>
            <a:ext cx="3383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72000" y="4023360"/>
            <a:ext cx="411480" cy="411480"/>
          </a:xfrm>
          <a:prstGeom prst="ellipse">
            <a:avLst/>
          </a:prstGeom>
          <a:solidFill>
            <a:srgbClr val="F4F8F5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40782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Georgia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0507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Georgia"/>
              </a:rPr>
              <a:t>Python EDA &amp; BI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6177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Statistical modeling, Area-Yield independence, HTML Dashboard &amp; Power BI metrics.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84048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840480"/>
            <a:ext cx="3383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12480" y="4023360"/>
            <a:ext cx="411480" cy="411480"/>
          </a:xfrm>
          <a:prstGeom prst="ellipse">
            <a:avLst/>
          </a:prstGeom>
          <a:solidFill>
            <a:srgbClr val="F4F8F5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40782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Georgia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0507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Georgia"/>
              </a:rPr>
              <a:t>Actionable Guidelines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177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5 strategic policy recommendations, study limitations, and institutional learnings.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01  |  The Core Challenge &amp; Policy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Georgia"/>
              </a:rPr>
              <a:t>THE 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Productivity Disparities:</a:t>
            </a:r>
            <a:r>
              <a:rPr sz="1050">
                <a:solidFill>
                  <a:srgbClr val="64748B"/>
                </a:solidFill>
                <a:latin typeface="Segoe UI"/>
              </a:rPr>
              <a:t> Crop yields show extreme variance across geographic zones, states, and weather seasons.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Resource Optimization:</a:t>
            </a:r>
            <a:r>
              <a:rPr sz="1050">
                <a:solidFill>
                  <a:srgbClr val="64748B"/>
                </a:solidFill>
                <a:latin typeface="Segoe UI"/>
              </a:rPr>
              <a:t> Agricultural departments lack visual tools to pinpoint underperforming areas for infrastructure investments.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Incompatible Data Units:</a:t>
            </a:r>
            <a:r>
              <a:rPr sz="1050">
                <a:solidFill>
                  <a:srgbClr val="64748B"/>
                </a:solidFill>
                <a:latin typeface="Segoe UI"/>
              </a:rPr>
              <a:t> Government datasets contain crop records that measure production differently, complicating aggregate audits.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Land Scaling Paradox:</a:t>
            </a:r>
            <a:r>
              <a:rPr sz="1050">
                <a:solidFill>
                  <a:srgbClr val="64748B"/>
                </a:solidFill>
                <a:latin typeface="Segoe UI"/>
              </a:rPr>
              <a:t> Physical expansion of farms does not automatically map to efficiency gains, prompting a diagnostic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  <a:latin typeface="Georgia"/>
              </a:rPr>
              <a:t>THE POLICY OBJECTIVE &amp;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Geographic Diagnostics:</a:t>
            </a:r>
            <a:r>
              <a:rPr sz="1050">
                <a:solidFill>
                  <a:srgbClr val="64748B"/>
                </a:solidFill>
                <a:latin typeface="Segoe UI"/>
              </a:rPr>
              <a:t> Map productivity index across 6 zones to locate structural yield deficits.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Performance Benchmarking:</a:t>
            </a:r>
            <a:r>
              <a:rPr sz="1050">
                <a:solidFill>
                  <a:srgbClr val="64748B"/>
                </a:solidFill>
                <a:latin typeface="Segoe UI"/>
              </a:rPr>
              <a:t> Isolate high-performing states (e.g. Punjab) to model best practice factors.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Risk Identification:</a:t>
            </a:r>
            <a:r>
              <a:rPr sz="1050">
                <a:solidFill>
                  <a:srgbClr val="64748B"/>
                </a:solidFill>
                <a:latin typeface="Segoe UI"/>
              </a:rPr>
              <a:t> Flag highly volatile rain-fed states (e.g. Rajasthan) for crop-insurance programs.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Policy Action Plans:</a:t>
            </a:r>
            <a:r>
              <a:rPr sz="1050">
                <a:solidFill>
                  <a:srgbClr val="64748B"/>
                </a:solidFill>
                <a:latin typeface="Segoe UI"/>
              </a:rPr>
              <a:t> Create 5 concrete recommendations combining seed replacements, micro-irrigation, and yield focus.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Georgia"/>
              </a:rPr>
              <a:t>CRITICAL METRIC FORMULATIONS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8873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ourier New"/>
              </a:rPr>
              <a:t>Yield = Production (Quantity) ÷ Cultivated Area (Hectares)    |    Yield Index = </a:t>
            </a:r>
            <a:r>
              <a:rPr sz="1000" b="1" i="0" dirty="0" err="1">
                <a:solidFill>
                  <a:srgbClr val="FFFFFF"/>
                </a:solidFill>
                <a:latin typeface="Courier New"/>
              </a:rPr>
              <a:t>Yield_i,c</a:t>
            </a:r>
            <a:r>
              <a:rPr sz="1000" b="1" i="0" dirty="0">
                <a:solidFill>
                  <a:srgbClr val="FFFFFF"/>
                </a:solidFill>
                <a:latin typeface="Courier New"/>
              </a:rPr>
              <a:t> ÷ National Historical Mean </a:t>
            </a:r>
            <a:r>
              <a:rPr sz="1000" b="1" i="0" dirty="0" err="1">
                <a:solidFill>
                  <a:srgbClr val="FFFFFF"/>
                </a:solidFill>
                <a:latin typeface="Courier New"/>
              </a:rPr>
              <a:t>Yield_c</a:t>
            </a:r>
            <a:endParaRPr sz="1000" b="1" i="0" dirty="0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01  |  Dataset Scale &amp; Variable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1B4332"/>
                </a:solidFill>
                <a:latin typeface="Georgia"/>
              </a:rPr>
              <a:t>DATA SOURCE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9319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Segoe UI"/>
              </a:rPr>
              <a:t>Cleaned historical records are sourced from the Open Government Data Portal of India (data.gov.in), representing agricultural stats published by the Ministry of Agriculture &amp; Farmers Welfare.</a:t>
            </a:r>
            <a:br/>
            <a:br/>
            <a:r>
              <a:t>The dataset tracks row-level district statistics across 19 crop years, making it highly representative for historical audits and geographic diagnostics.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1089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66420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246,091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RAW RECORD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514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Segoe UI"/>
              </a:rPr>
              <a:t>Comprehensive audit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31089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66420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STATES &amp; TERRITORIES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14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Segoe UI"/>
              </a:rPr>
              <a:t>National geographic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47472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3474720"/>
            <a:ext cx="31089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367588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646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251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DISTRICTS MAPPED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526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Segoe UI"/>
              </a:rPr>
              <a:t>Granular regional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47472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3474720"/>
            <a:ext cx="31089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367588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51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CROP YEARS 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526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Segoe UI"/>
              </a:rPr>
              <a:t>Historical span (1997–2015)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54864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Georgia"/>
              </a:rPr>
              <a:t>DATA COLUMNS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Segoe UI"/>
              </a:rPr>
              <a:t>State_Name  •  District_Name  •  Crop_Year  •  Season  •  Crop  •  Area (Hectares)  •  Production (Variable Units)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02  |  Data Integrity &amp;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1645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Georgia"/>
              </a:rPr>
              <a:t>1. Casing &amp; Whitespace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Standardized casing to Title Case and stripped trailing spaces in text fields (e.g. 'Kharif     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54864" cy="1645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Georgia"/>
              </a:rPr>
              <a:t>2. Missing Value Sweep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3,730 rows (1.52% of dataset) missing Production values dropped. Avoided fabricated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54864" cy="1645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2763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Georgia"/>
              </a:rPr>
              <a:t>3. Duplicates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Verified composite key uniqueness (State, District, Year, Season, Crop). Zero duplicates found.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4864" cy="1645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3931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Georgia"/>
              </a:rPr>
              <a:t>4. Constraint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Audited dataset for invalid numbers (Area &lt;= 0 or Production &lt; 0). All records passed successfully.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474720"/>
            <a:ext cx="54864" cy="1645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63931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Georgia"/>
              </a:rPr>
              <a:t>5. Yield Index Creation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Calculated Yield = Production / Area. Built relative Yield Index to enable crop-invariant aggregates.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747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474720"/>
            <a:ext cx="54864" cy="1645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63931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Georgia"/>
              </a:rPr>
              <a:t>6. Outlier Flagging (IQR)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69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Applied IQR method per-crop. Flagged 7,680 records (3.17%) as outliers; kept in database for audit trail.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Georgia"/>
              </a:rPr>
              <a:t>PIPELINE AUDIT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790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246,091 Raw Records  ──►  242,361 Cleaned Records Mapped to SQL (98.48% Preservation Rate, 3.17% Flagged Outliers)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02  |  The Unit Inconsistency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Georgia"/>
              </a:rPr>
              <a:t>THE HAZARD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754880" cy="31393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Segoe UI"/>
              </a:rPr>
              <a:t>In official Indian agricultural statistics, Production is reported in heterogeneous units depending on the crop category:</a:t>
            </a:r>
            <a:br>
              <a:rPr dirty="0"/>
            </a:br>
            <a:r>
              <a:rPr dirty="0">
                <a:solidFill>
                  <a:srgbClr val="FFFF00"/>
                </a:solidFill>
              </a:rPr>
              <a:t> • Coconuts: reported in absolute number of nuts</a:t>
            </a:r>
            <a:br>
              <a:rPr dirty="0">
                <a:solidFill>
                  <a:srgbClr val="FFFF00"/>
                </a:solidFill>
              </a:rPr>
            </a:br>
            <a:r>
              <a:rPr dirty="0">
                <a:solidFill>
                  <a:srgbClr val="FFFF00"/>
                </a:solidFill>
              </a:rPr>
              <a:t> • Cotton &amp; Jute: reported in bales (approx. 170kg–180kg)</a:t>
            </a:r>
            <a:br>
              <a:rPr dirty="0">
                <a:solidFill>
                  <a:srgbClr val="FFFF00"/>
                </a:solidFill>
              </a:rPr>
            </a:br>
            <a:r>
              <a:rPr dirty="0">
                <a:solidFill>
                  <a:srgbClr val="FFFF00"/>
                </a:solidFill>
              </a:rPr>
              <a:t> • Rice, Wheat, Pulses: reported in metric </a:t>
            </a:r>
            <a:r>
              <a:rPr dirty="0" err="1">
                <a:solidFill>
                  <a:srgbClr val="FFFF00"/>
                </a:solidFill>
              </a:rPr>
              <a:t>tonnes</a:t>
            </a:r>
            <a:br>
              <a:rPr dirty="0">
                <a:solidFill>
                  <a:srgbClr val="FFFF00"/>
                </a:solidFill>
              </a:rPr>
            </a:br>
            <a:br>
              <a:rPr dirty="0">
                <a:solidFill>
                  <a:srgbClr val="FFFF00"/>
                </a:solidFill>
              </a:rPr>
            </a:br>
            <a:r>
              <a:rPr dirty="0">
                <a:solidFill>
                  <a:srgbClr val="FFFF00"/>
                </a:solidFill>
              </a:rPr>
              <a:t>Averaging raw yield calculations (Production ÷ Area) across different crop categories silently blends nuts, bales, and </a:t>
            </a:r>
            <a:r>
              <a:rPr dirty="0" err="1">
                <a:solidFill>
                  <a:srgbClr val="FFFF00"/>
                </a:solidFill>
              </a:rPr>
              <a:t>tonnes</a:t>
            </a:r>
            <a:r>
              <a:rPr dirty="0">
                <a:solidFill>
                  <a:srgbClr val="FFFF00"/>
                </a:solidFill>
              </a:rPr>
              <a:t>. Any global averages or simple sums would be mathematically invalid and economically misleading.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577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  <a:latin typeface="Georgia"/>
              </a:rPr>
              <a:t>THE RESOLUTION: YIELD INDEXING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Segoe UI"/>
              </a:rPr>
              <a:t>To allow valid cross-crop aggregations, we constructed a relative Yield Index. Every district-crop-year record is divided by the historical national average yield of that specific crop.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5029200" cy="91440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5844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i="0">
                <a:solidFill>
                  <a:srgbClr val="1B4332"/>
                </a:solidFill>
                <a:latin typeface="Courier New"/>
              </a:rPr>
              <a:t>Yield_Index_i,c = Yield_i,c ÷ Historical_Mean_Yield_c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34340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 • Index = 1.0: Record is exactly equal to the national crop average.</a:t>
            </a:r>
            <a:br/>
            <a:r>
              <a:t> • Index = 1.5: Productivity is 50% above the average for that specific crop.</a:t>
            </a:r>
            <a:br/>
            <a:r>
              <a:t>This indices approach allows us to compare Rajasthan and Punjab fairly, even though they grow entirely different crop mixes.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0213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31868" y="856826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333" y="59994"/>
            <a:ext cx="914400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Georgia"/>
              </a:rPr>
              <a:t>03  |  SQL Analytics Engine &amp; Query Schema</a:t>
            </a:r>
            <a:r>
              <a:rPr lang="en-IN" sz="2600" b="1" i="0" dirty="0">
                <a:solidFill>
                  <a:srgbClr val="FFFFFF"/>
                </a:solidFill>
                <a:latin typeface="Georgia"/>
              </a:rPr>
              <a:t> &amp; screenshots</a:t>
            </a:r>
            <a:endParaRPr sz="26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80" y="1869440"/>
            <a:ext cx="4951307" cy="3789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0333" y="229328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B4332"/>
                </a:solidFill>
                <a:latin typeface="Georgia"/>
              </a:rPr>
              <a:t>ANALYTICAL SQL QUERY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667" y="2754153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 dirty="0">
                <a:solidFill>
                  <a:srgbClr val="1E293B"/>
                </a:solidFill>
                <a:latin typeface="Segoe UI"/>
              </a:rPr>
              <a:t>• Reference Joins: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 Connected clean production table with a State-Zone reference mapping to enable geographic grouping.</a:t>
            </a:r>
          </a:p>
          <a:p>
            <a:pPr>
              <a:spcAft>
                <a:spcPts val="1200"/>
              </a:spcAft>
            </a:pPr>
            <a:r>
              <a:rPr sz="1100" b="1" dirty="0">
                <a:solidFill>
                  <a:srgbClr val="1E293B"/>
                </a:solidFill>
                <a:latin typeface="Segoe UI"/>
              </a:rPr>
              <a:t>• Rankings Partitioning: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 Leveraged RANK() OVER (PARTITION BY Zone ORDER BY AVG(</a:t>
            </a:r>
            <a:r>
              <a:rPr sz="1050" dirty="0" err="1">
                <a:solidFill>
                  <a:srgbClr val="64748B"/>
                </a:solidFill>
                <a:latin typeface="Segoe UI"/>
              </a:rPr>
              <a:t>Yield_Index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) DESC) to determine top states.</a:t>
            </a:r>
          </a:p>
          <a:p>
            <a:pPr>
              <a:spcAft>
                <a:spcPts val="1200"/>
              </a:spcAft>
            </a:pPr>
            <a:r>
              <a:rPr sz="1100" b="1" dirty="0">
                <a:solidFill>
                  <a:srgbClr val="1E293B"/>
                </a:solidFill>
                <a:latin typeface="Segoe UI"/>
              </a:rPr>
              <a:t>• YoY Growth Lag: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 Built Year-over-Year calculations using LAG(</a:t>
            </a:r>
            <a:r>
              <a:rPr sz="1050" dirty="0" err="1">
                <a:solidFill>
                  <a:srgbClr val="64748B"/>
                </a:solidFill>
                <a:latin typeface="Segoe UI"/>
              </a:rPr>
              <a:t>Avg_Index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, 1) OVER (ORDER BY </a:t>
            </a:r>
            <a:r>
              <a:rPr sz="1050" dirty="0" err="1">
                <a:solidFill>
                  <a:srgbClr val="64748B"/>
                </a:solidFill>
                <a:latin typeface="Segoe UI"/>
              </a:rPr>
              <a:t>Crop_Year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) to assess trends.</a:t>
            </a:r>
          </a:p>
          <a:p>
            <a:pPr>
              <a:spcAft>
                <a:spcPts val="1200"/>
              </a:spcAft>
            </a:pPr>
            <a:r>
              <a:rPr sz="1100" b="1" dirty="0">
                <a:solidFill>
                  <a:srgbClr val="1E293B"/>
                </a:solidFill>
                <a:latin typeface="Segoe UI"/>
              </a:rPr>
              <a:t>• Pre-computed Views: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 Designed and indexed SQL View (</a:t>
            </a:r>
            <a:r>
              <a:rPr sz="1050" dirty="0" err="1">
                <a:solidFill>
                  <a:srgbClr val="64748B"/>
                </a:solidFill>
                <a:latin typeface="Segoe UI"/>
              </a:rPr>
              <a:t>V_Agricultural_Productivity_KPIs</a:t>
            </a:r>
            <a:r>
              <a:rPr sz="1050" dirty="0">
                <a:solidFill>
                  <a:srgbClr val="64748B"/>
                </a:solidFill>
                <a:latin typeface="Segoe UI"/>
              </a:rPr>
              <a:t>) to serve as a fast dashboard 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7 of 14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91A89B-F51E-723A-F241-67354CB91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33" y="1058217"/>
            <a:ext cx="5943600" cy="5540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27F60F-35FD-3F06-A593-243794FB012A}"/>
              </a:ext>
            </a:extLst>
          </p:cNvPr>
          <p:cNvSpPr/>
          <p:nvPr/>
        </p:nvSpPr>
        <p:spPr>
          <a:xfrm>
            <a:off x="0" y="0"/>
            <a:ext cx="12191695" cy="71120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FFFF"/>
                </a:solidFill>
                <a:latin typeface="Georgia"/>
              </a:rPr>
              <a:t>  03  |                                                     </a:t>
            </a:r>
            <a:r>
              <a:rPr lang="en-IN" dirty="0"/>
              <a:t>MORE SCREENSHOTS OF DIFFERENT TASKS (SQL)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CC9E8-F802-44DF-602B-864E0402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120" y="711200"/>
            <a:ext cx="5946987" cy="6065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A26C84-46CA-212A-6713-5AE5B63C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3" y="711200"/>
            <a:ext cx="5713307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5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04  |  National Productivity Growth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114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41148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1B4332"/>
                </a:solidFill>
                <a:latin typeface="Georgia"/>
              </a:rPr>
              <a:t>+22%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1E293B"/>
                </a:solidFill>
                <a:latin typeface="Segoe UI"/>
              </a:rPr>
              <a:t>RELATIVE YIELD RISE</a:t>
            </a:r>
            <a:br/>
            <a:r>
              <a:t>(1997 → 2013)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3566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National Yield Index increased from 0.93 to 1.14. Reflects a genuine long-term rise in agricultural efficiency driven by irrigation infrastructure and seed replacements.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6492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6492240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16916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  <a:latin typeface="Georgia"/>
              </a:rPr>
              <a:t>GROWTH DRIVERS &amp; REPORTING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94560"/>
            <a:ext cx="59436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Long-Term Growth Trajectory:</a:t>
            </a:r>
            <a:r>
              <a:rPr sz="1050">
                <a:solidFill>
                  <a:srgbClr val="64748B"/>
                </a:solidFill>
                <a:latin typeface="Segoe UI"/>
              </a:rPr>
              <a:t> National relative productivity demonstrates steady annual gains, validating national programs (e.g. Rashtriya Krishi Vikas Yojana).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The 2015 Crop Year Drop:</a:t>
            </a:r>
            <a:r>
              <a:rPr sz="1050">
                <a:solidFill>
                  <a:srgbClr val="64748B"/>
                </a:solidFill>
                <a:latin typeface="Segoe UI"/>
              </a:rPr>
              <a:t> The apparent productivity collapse in 2015 is a statistical illusion. The dataset contains only 561 records for 2015, compared to over 13,000 in average years.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Policy Pre-emption:</a:t>
            </a:r>
            <a:r>
              <a:rPr sz="1050">
                <a:solidFill>
                  <a:srgbClr val="64748B"/>
                </a:solidFill>
                <a:latin typeface="Segoe UI"/>
              </a:rPr>
              <a:t> Outlining the 2015 data gap prevents policymakers from concluding a sudden crisis occurred, emphasizing the necessity of complete data audits.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8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04  |  Benchmark vs. Volatile Risk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B4332"/>
                </a:solidFill>
                <a:latin typeface="Segoe UI"/>
              </a:rPr>
              <a:t>THE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B4332"/>
                </a:solidFill>
                <a:latin typeface="Georgia"/>
              </a:rPr>
              <a:t>Punjab  •  Yield Index: 1.508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High Productivity:</a:t>
            </a:r>
            <a:r>
              <a:rPr sz="1000">
                <a:solidFill>
                  <a:srgbClr val="64748B"/>
                </a:solidFill>
                <a:latin typeface="Segoe UI"/>
              </a:rPr>
              <a:t> Punjab exhibits an index of 1.508, meaning it produces 51% more crop output per hectare than the average state growing the same crops.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Infrastructure Resilience:</a:t>
            </a:r>
            <a:r>
              <a:rPr sz="1000">
                <a:solidFill>
                  <a:srgbClr val="64748B"/>
                </a:solidFill>
                <a:latin typeface="Segoe UI"/>
              </a:rPr>
              <a:t> Year-to-year yield volatility is low (0.518 standard deviation). Indicates robust protection from monsoon variability due to extensive canal and tubewell networks.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Technology Adoption:</a:t>
            </a:r>
            <a:r>
              <a:rPr sz="1000">
                <a:solidFill>
                  <a:srgbClr val="64748B"/>
                </a:solidFill>
                <a:latin typeface="Segoe UI"/>
              </a:rPr>
              <a:t> High seed replacement rate and early adoption of Green Revolution practices maintain its outlier productivity benchmark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3035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DC2626"/>
                </a:solidFill>
                <a:latin typeface="Segoe UI"/>
              </a:rPr>
              <a:t>THE RAINFALL RISK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Georgia"/>
              </a:rPr>
              <a:t>Rajasthan &amp; MP  •  Low &amp; Volatile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Low Relative Productivity:</a:t>
            </a:r>
            <a:r>
              <a:rPr sz="1000">
                <a:solidFill>
                  <a:srgbClr val="64748B"/>
                </a:solidFill>
                <a:latin typeface="Segoe UI"/>
              </a:rPr>
              <a:t> Rajasthan (0.876 index) and Madhya Pradesh (0.817 index) operate below the national crop averages.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High Yield Volatility:</a:t>
            </a:r>
            <a:r>
              <a:rPr sz="1000">
                <a:solidFill>
                  <a:srgbClr val="64748B"/>
                </a:solidFill>
                <a:latin typeface="Segoe UI"/>
              </a:rPr>
              <a:t> Both states display elevated standard deviation scores (0.970+), indicating production swings based on monsoon variations.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• Policy Indication:</a:t>
            </a:r>
            <a:r>
              <a:rPr sz="1000">
                <a:solidFill>
                  <a:srgbClr val="64748B"/>
                </a:solidFill>
                <a:latin typeface="Segoe UI"/>
              </a:rPr>
              <a:t> These regions require high-priority policy focus for micro-irrigation (drip/sprinklers), local rainwater harvesting, and robust crop insurance.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1" y="797560"/>
            <a:ext cx="119949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Georgia"/>
              </a:rPr>
              <a:t>05  |  </a:t>
            </a:r>
            <a:r>
              <a:rPr lang="en-IN" sz="2600" b="1" dirty="0">
                <a:solidFill>
                  <a:srgbClr val="FFFFFF"/>
                </a:solidFill>
                <a:latin typeface="Georgia"/>
              </a:rPr>
              <a:t>             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Visualization</a:t>
            </a:r>
            <a:r>
              <a:rPr lang="en-IN" sz="2600" b="1" i="0" dirty="0">
                <a:solidFill>
                  <a:srgbClr val="FFFFFF"/>
                </a:solidFill>
                <a:latin typeface="Georgia"/>
              </a:rPr>
              <a:t> Of 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BI Dashboard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5080" y="943550"/>
            <a:ext cx="5029200" cy="21958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080" y="94355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B4332"/>
                </a:solidFill>
                <a:latin typeface="Georgia"/>
              </a:rPr>
              <a:t>Power BI DAX Build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080" y="1331662"/>
            <a:ext cx="4892040" cy="1736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 dirty="0">
                <a:solidFill>
                  <a:srgbClr val="1E293B"/>
                </a:solidFill>
                <a:latin typeface="Segoe UI"/>
              </a:rPr>
              <a:t>• Data Model Setup: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 Joins cleaned crop data with State-Zone references in Power Query Desktop.</a:t>
            </a:r>
          </a:p>
          <a:p>
            <a:pPr>
              <a:spcAft>
                <a:spcPts val="1200"/>
              </a:spcAft>
            </a:pPr>
            <a:r>
              <a:rPr sz="1050" b="1" dirty="0">
                <a:solidFill>
                  <a:srgbClr val="1E293B"/>
                </a:solidFill>
                <a:latin typeface="Segoe UI"/>
              </a:rPr>
              <a:t>• DAX Crop Parity: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 Custom measure calculates rebased crop yields to bypass mixed-unit traps.</a:t>
            </a:r>
          </a:p>
          <a:p>
            <a:pPr>
              <a:spcAft>
                <a:spcPts val="1200"/>
              </a:spcAft>
            </a:pPr>
            <a:r>
              <a:rPr sz="1050" b="1" dirty="0">
                <a:solidFill>
                  <a:srgbClr val="1E293B"/>
                </a:solidFill>
                <a:latin typeface="Segoe UI"/>
              </a:rPr>
              <a:t>• Crop Mean Measure: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Segoe UI"/>
              </a:rPr>
              <a:t>Crop_Mean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 = CALCULATE(AVERAGE(data[Yield]), ALLEXCEPT(data, data[Crop])).</a:t>
            </a:r>
          </a:p>
          <a:p>
            <a:pPr>
              <a:spcAft>
                <a:spcPts val="1200"/>
              </a:spcAft>
            </a:pPr>
            <a:r>
              <a:rPr sz="1050" b="1" dirty="0">
                <a:solidFill>
                  <a:srgbClr val="1E293B"/>
                </a:solidFill>
                <a:latin typeface="Segoe UI"/>
              </a:rPr>
              <a:t>• Index Measure: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64748B"/>
                </a:solidFill>
                <a:latin typeface="Segoe UI"/>
              </a:rPr>
              <a:t>Yield_Index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 = DIVIDE([Yield], [</a:t>
            </a:r>
            <a:r>
              <a:rPr sz="1000" dirty="0" err="1">
                <a:solidFill>
                  <a:srgbClr val="64748B"/>
                </a:solidFill>
                <a:latin typeface="Segoe UI"/>
              </a:rPr>
              <a:t>Crop_Mean</a:t>
            </a:r>
            <a:r>
              <a:rPr sz="1000" dirty="0">
                <a:solidFill>
                  <a:srgbClr val="64748B"/>
                </a:solidFill>
                <a:latin typeface="Segoe UI"/>
              </a:rPr>
              <a:t>], 0) to compute final normalized values.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A229C1-BE6B-29B7-EC65-455A83780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280" y="1163320"/>
            <a:ext cx="6906933" cy="48971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BB5F2F-024D-0C18-E0CF-04845AC6A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3161793"/>
            <a:ext cx="4892040" cy="3696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D6D2B1-6B46-3E4F-77C4-D5F548045EF5}"/>
              </a:ext>
            </a:extLst>
          </p:cNvPr>
          <p:cNvSpPr/>
          <p:nvPr/>
        </p:nvSpPr>
        <p:spPr>
          <a:xfrm>
            <a:off x="0" y="0"/>
            <a:ext cx="12191695" cy="62992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More screenshots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31874-CF52-A24C-9320-FE95AE4EC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746504"/>
            <a:ext cx="5819914" cy="4328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85E722-7BF6-D7E9-031C-DF741DE97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166" y="2504065"/>
            <a:ext cx="5819914" cy="4268187"/>
          </a:xfrm>
          <a:prstGeom prst="rect">
            <a:avLst/>
          </a:prstGeom>
        </p:spPr>
      </p:pic>
      <p:pic>
        <p:nvPicPr>
          <p:cNvPr id="9" name="Graphic 8" descr="Leaf with solid fill">
            <a:extLst>
              <a:ext uri="{FF2B5EF4-FFF2-40B4-BE49-F238E27FC236}">
                <a16:creationId xmlns:a16="http://schemas.microsoft.com/office/drawing/2014/main" id="{FEDCC778-2CED-BF3C-3E93-B152ED2AA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pic>
        <p:nvPicPr>
          <p:cNvPr id="11" name="Graphic 10" descr="Plant with solid fill">
            <a:extLst>
              <a:ext uri="{FF2B5EF4-FFF2-40B4-BE49-F238E27FC236}">
                <a16:creationId xmlns:a16="http://schemas.microsoft.com/office/drawing/2014/main" id="{DFD05FE9-2DD6-B0D5-1BCB-1469B2C82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7927" y="6299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41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06  |  Actionable Policy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D4AF37"/>
                </a:solidFill>
                <a:latin typeface="Segoe UI"/>
              </a:rPr>
              <a:t>AGRICULTURAL PRODUCTIVITY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Georgia"/>
              </a:rPr>
              <a:t>1. REPLICATE PUNJAB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81328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Document irrigation-access success metrics in Punjab and extend canal/tubewell networks to underperforming states where water resources permit.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54864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Georgia"/>
              </a:rPr>
              <a:t>2. TARGET CENTRAL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68880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Prioritize the Central Zone (MP, CG) for immediate agricultural extension services, seed-replacement initiatives, and soil health checks to bridge the 24% yield lag.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46704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346704"/>
            <a:ext cx="54864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Georgia"/>
              </a:rPr>
              <a:t>3. DE-RISK RAIN-FED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456432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Focus water-conservation budgets on Rajasthan &amp; MP. Prioritize these high-volatility states for micro-irrigation (drip/sprinklers) and rainwater harvesting.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34256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334256"/>
            <a:ext cx="54864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443984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Georgia"/>
              </a:rPr>
              <a:t>4. SUSTAIN EFFECTIVE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443984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National relative productivity rose 22% between 1997 and 2013. Protect funding for successful national schemes (e.g. RKVY) and direct surpluses to lagging states.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21808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321808"/>
            <a:ext cx="54864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31536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B4332"/>
                </a:solidFill>
                <a:latin typeface="Georgia"/>
              </a:rPr>
              <a:t>5. TARGET INPUTS, NOT LAND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431536"/>
            <a:ext cx="7406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Segoe UI"/>
              </a:rPr>
              <a:t>Area and Yield display near-zero correlation (r = 0.005). Interventions must target yield-enhancing inputs (seed quality, fertilizer, irrigation) rather than expanding farm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12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73152" cy="2926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End of 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F4F8F5"/>
                </a:solidFill>
                <a:latin typeface="Segoe UI"/>
              </a:rPr>
              <a:t>From raw government statistics to policy-ready insights. Open for questions and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389120"/>
            <a:ext cx="10607040" cy="182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D4AF37"/>
                </a:solidFill>
                <a:latin typeface="Segoe UI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Trivedi Dharmik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5040" y="46634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D4AF37"/>
                </a:solidFill>
                <a:latin typeface="Segoe UI"/>
              </a:rPr>
              <a:t>DATABASE CONNECTOR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040" y="48920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Cleaned SQLite Database (crop_production.db)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Agricultural Productivity &amp; Yield Analysis in India  |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1761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Trivedi dharmik</cp:lastModifiedBy>
  <cp:revision>2</cp:revision>
  <dcterms:created xsi:type="dcterms:W3CDTF">2013-01-27T09:14:16Z</dcterms:created>
  <dcterms:modified xsi:type="dcterms:W3CDTF">2026-07-17T22:44:27Z</dcterms:modified>
  <cp:category/>
</cp:coreProperties>
</file>